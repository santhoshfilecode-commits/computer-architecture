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1"/>
  </p:sldMasterIdLst>
  <p:notesMasterIdLst>
    <p:notesMasterId r:id="rId19"/>
  </p:notesMasterIdLst>
  <p:sldIdLst>
    <p:sldId id="273" r:id="rId2"/>
    <p:sldId id="311" r:id="rId3"/>
    <p:sldId id="266" r:id="rId4"/>
    <p:sldId id="313" r:id="rId5"/>
    <p:sldId id="314" r:id="rId6"/>
    <p:sldId id="315" r:id="rId7"/>
    <p:sldId id="310" r:id="rId8"/>
    <p:sldId id="318" r:id="rId9"/>
    <p:sldId id="260" r:id="rId10"/>
    <p:sldId id="316" r:id="rId11"/>
    <p:sldId id="308" r:id="rId12"/>
    <p:sldId id="317" r:id="rId13"/>
    <p:sldId id="319" r:id="rId14"/>
    <p:sldId id="322" r:id="rId15"/>
    <p:sldId id="293" r:id="rId16"/>
    <p:sldId id="320" r:id="rId17"/>
    <p:sldId id="32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A9A6"/>
    <a:srgbClr val="318EFE"/>
    <a:srgbClr val="75B3FE"/>
    <a:srgbClr val="0F4761"/>
    <a:srgbClr val="FFFFFF"/>
    <a:srgbClr val="FDFBF6"/>
    <a:srgbClr val="F3F4F6"/>
    <a:srgbClr val="1B2E64"/>
    <a:srgbClr val="2A2A2A"/>
    <a:srgbClr val="30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C2DFF9-E141-4309-97BC-4DCD23AF1A6D}" v="122" dt="2026-09-04T14:47:09.0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637" autoAdjust="0"/>
    <p:restoredTop sz="94660"/>
  </p:normalViewPr>
  <p:slideViewPr>
    <p:cSldViewPr snapToGrid="0">
      <p:cViewPr varScale="1">
        <p:scale>
          <a:sx n="95" d="100"/>
          <a:sy n="95" d="100"/>
        </p:scale>
        <p:origin x="90" y="5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8570A7-E5C9-41CB-AEF1-BEEEBE08CCA6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6639D1-B121-44D0-BD75-A7D2C02353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5445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639D1-B121-44D0-BD75-A7D2C023534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6335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639D1-B121-44D0-BD75-A7D2C023534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49649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A0C6B-2BCB-32FE-AD3A-EC98948DD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4766E8-7DA3-C053-D771-8D9BFC0F77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B3190C-A23A-12E4-7984-314EA1E3A4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8743EE-AA20-E60E-916A-B949E111A1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639D1-B121-44D0-BD75-A7D2C0235342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2230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C2504-6979-5B4A-B0F9-EC8A1BC16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2319C1-6135-0FBD-9C3C-2ECA4EB66D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66A208-91B2-3C46-B551-1BA094595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D6FE4-6CEE-4ADC-8B92-C5BCCAC78320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3E6A68-ED38-5F8A-DFEF-0626337BF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DD66B-46CE-8F87-78E5-AD87A0B5B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67C0B-2AAC-40FC-8A28-830D5DBC47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0488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55925-559C-AC01-D28A-65F480E06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F9B60-37DE-E529-D576-0642D9357A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A982D-89E3-B23B-5CEF-41006B2E5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D6FE4-6CEE-4ADC-8B92-C5BCCAC78320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AE29F-60D3-7D44-3D84-A130D378B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EB8D9-7F3D-FCB4-D391-5EA524C71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67C0B-2AAC-40FC-8A28-830D5DBC47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5920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BAF6-28EE-3CBB-730F-EA42CCBD1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962B24-20F9-1BB9-297F-A65CFE2CF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DF8A5E-B6CE-2612-A866-0CC97C730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D6FE4-6CEE-4ADC-8B92-C5BCCAC78320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C110A-179F-2D5E-94B4-AED8A6233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3B890C-A947-EC22-FBA1-E3DACCAA8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67C0B-2AAC-40FC-8A28-830D5DBC47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9636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2A524-07FC-25DA-0E18-6A489DEB9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B28A8-0F36-71BF-BB70-D4D64C9CB6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0813C9-7A15-34BD-525A-C4F3CF984A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1AA4F9-9C35-757D-A666-A9F3354BC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D6FE4-6CEE-4ADC-8B92-C5BCCAC78320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3E8374-90DB-0A61-A3D4-E2069A2EB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FE144B-B64D-184F-298E-9AD203A08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67C0B-2AAC-40FC-8A28-830D5DBC47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7582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BC1C7-5AB7-AF0B-C177-382D9B372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55E7CC-DA80-2A8A-0E2C-D45C2239A0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503F18-1AC9-C70B-88FC-BFFD6072FE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BD131D-53C3-A53D-6828-C60EB7370C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54D594-AE88-71D2-FD1E-C6635EA7F5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497380-FC4F-4F6B-0A57-B29D5DAAE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D6FE4-6CEE-4ADC-8B92-C5BCCAC78320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C9C752-2F45-1BC8-EE26-B3E791856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8ECD26-6FB5-4E95-37C9-EE9381279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67C0B-2AAC-40FC-8A28-830D5DBC47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2834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CCC0D-EADD-0AE2-23BC-7988377D0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4DF71C-72FA-828B-4591-1928CA606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D6FE4-6CEE-4ADC-8B92-C5BCCAC78320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1ADCEC-4FD4-92F0-5AF4-2067BF5EE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9CB2C9-2140-4EF0-5241-67F6137F3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67C0B-2AAC-40FC-8A28-830D5DBC47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2228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9B280D-C925-19FA-2E0C-867470D88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D6FE4-6CEE-4ADC-8B92-C5BCCAC78320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CEF9C6-9011-7867-83E5-DAAB80BFF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71B3E7-B682-D8C3-531E-4D06E8285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67C0B-2AAC-40FC-8A28-830D5DBC47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4577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99E6C-23AC-222D-C99D-4D442B4E8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98DA5-7935-3410-AFD7-9B827E9EE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AE9FA8-D27D-2D59-3647-8EFE1A64BC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A1ACF-4E33-855B-4277-BE4EA423E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D6FE4-6CEE-4ADC-8B92-C5BCCAC78320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5F0BBB-54B3-BD10-B2AA-4804CE836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929544-9DF7-3C26-4EAD-DA1325AB3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67C0B-2AAC-40FC-8A28-830D5DBC47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5508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A827E-F706-8445-0AF1-CD6CDE699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207CC0-97B5-FD54-4EBA-58645539B3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3DAE85-0B09-9903-5CDC-C67BF1814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2C87CA-E1D2-F469-E0DB-63A10AA73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D6FE4-6CEE-4ADC-8B92-C5BCCAC78320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E2218F-B173-1A7C-F49B-E3C1121DD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F754C6-6678-2A92-BABC-8DCA99574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67C0B-2AAC-40FC-8A28-830D5DBC47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0483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FB4C3-708F-3220-18B3-CD166BDF0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158FA7-9D4B-6F44-55FB-8A0BBD1C5A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49EB1-67F1-74D4-11F9-28F962C3B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D6FE4-6CEE-4ADC-8B92-C5BCCAC78320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D46CE-F173-4A64-593E-980CA534D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908016-5480-0F09-01CF-ED59ABD6D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67C0B-2AAC-40FC-8A28-830D5DBC47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366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7D2BB2-8483-04D2-0C13-E139E81733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806673-ADC8-FADD-3636-9CD52E56D4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4D41E5-EFB2-F139-CB36-D2A9C2B7B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D6FE4-6CEE-4ADC-8B92-C5BCCAC78320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274E3-B211-3F32-B4F8-CB2B68536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AD8FFB-D24D-AD21-6F78-89C02F8DE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67C0B-2AAC-40FC-8A28-830D5DBC47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71110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9247200" cy="1987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4667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09600" y="160464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marL="575986" indent="-431989">
              <a:spcBef>
                <a:spcPts val="188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/>
            </a:lvl1pPr>
          </a:lstStyle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67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1151971" lvl="1" indent="-431989">
              <a:spcBef>
                <a:spcPts val="1512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67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727957" lvl="2" indent="-383990">
              <a:spcBef>
                <a:spcPts val="113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67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2303942" lvl="3" indent="-287993">
              <a:spcBef>
                <a:spcPts val="756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67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879928" lvl="4" indent="-287993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667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3455914" lvl="5" indent="-287993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667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4031899" lvl="6" indent="-287993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667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2558060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C9BEBF-ED6D-FE08-0EFA-8003F9C16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3ED1F3-A0D0-522B-E22F-7B49D89C42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7D56C8-9DDE-B58A-BDF2-ECC5FEB3B3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6D6FE4-6CEE-4ADC-8B92-C5BCCAC78320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EF48D-D5DD-F6A7-E7BD-1CB4E0FD47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48E349-3FCC-CA7E-C026-DAD60022E3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E67C0B-2AAC-40FC-8A28-830D5DBC47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9468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21B61BA-AE98-4026-418C-2E4651DFC7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3626" y="412955"/>
            <a:ext cx="11533239" cy="6017343"/>
          </a:xfrm>
        </p:spPr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B0ABBF-21C4-891A-F872-2C88BC73ADC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4435" y="412955"/>
            <a:ext cx="8722851" cy="146630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B0A139-12ED-5D3F-91E3-DCDA3557918C}"/>
              </a:ext>
            </a:extLst>
          </p:cNvPr>
          <p:cNvSpPr txBox="1"/>
          <p:nvPr/>
        </p:nvSpPr>
        <p:spPr>
          <a:xfrm>
            <a:off x="332582" y="3570789"/>
            <a:ext cx="112185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90"/>
              </a:spcBef>
            </a:pPr>
            <a:r>
              <a:rPr lang="en-US"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CSA1218-COMPUTER ARCHITECTURE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DB753B-69BD-60B9-75AF-985B73192930}"/>
              </a:ext>
            </a:extLst>
          </p:cNvPr>
          <p:cNvSpPr txBox="1"/>
          <p:nvPr/>
        </p:nvSpPr>
        <p:spPr>
          <a:xfrm>
            <a:off x="8150466" y="5063104"/>
            <a:ext cx="71095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BY </a:t>
            </a:r>
          </a:p>
          <a:p>
            <a:pPr algn="l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HEMANTH R (192521327)</a:t>
            </a:r>
          </a:p>
          <a:p>
            <a:pPr algn="l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DILIP KUMAR C (192412133)</a:t>
            </a:r>
          </a:p>
          <a:p>
            <a:pPr algn="l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SANTHOSH KUMAR M (192511017)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A58E97-10A2-7644-3FB3-0B35D71C54C8}"/>
              </a:ext>
            </a:extLst>
          </p:cNvPr>
          <p:cNvSpPr txBox="1"/>
          <p:nvPr/>
        </p:nvSpPr>
        <p:spPr>
          <a:xfrm>
            <a:off x="285135" y="5546143"/>
            <a:ext cx="56566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 </a:t>
            </a:r>
          </a:p>
          <a:p>
            <a:pPr algn="l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 JAYASAKTHI VELMURUGAN 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0945D2-4F1D-E530-A053-C3CEAAD890D8}"/>
              </a:ext>
            </a:extLst>
          </p:cNvPr>
          <p:cNvSpPr txBox="1"/>
          <p:nvPr/>
        </p:nvSpPr>
        <p:spPr>
          <a:xfrm>
            <a:off x="1318008" y="2370460"/>
            <a:ext cx="95559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SIMULATION OF AN ARITHMETIC LOGIC UNIT FOR PROCESSOR OPERATIONS</a:t>
            </a:r>
          </a:p>
          <a:p>
            <a:pPr algn="ctr"/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61164012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42C60-AB98-0C63-01A8-2AA434D86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0800000" flipV="1">
            <a:off x="-830926" y="1497092"/>
            <a:ext cx="6393688" cy="269486"/>
          </a:xfrm>
        </p:spPr>
        <p:txBody>
          <a:bodyPr>
            <a:noAutofit/>
          </a:bodyPr>
          <a:lstStyle/>
          <a:p>
            <a:pPr algn="ctr"/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BE583F-25C2-1EC1-4324-74B8DFE534F2}"/>
              </a:ext>
            </a:extLst>
          </p:cNvPr>
          <p:cNvSpPr txBox="1"/>
          <p:nvPr/>
        </p:nvSpPr>
        <p:spPr>
          <a:xfrm>
            <a:off x="676326" y="2159619"/>
            <a:ext cx="9306344" cy="419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develops a web-based simulation of an 8-bit RISC processor with an Arithmetic Logic Unit (ALU).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ALU performs essential arithmetic and logical operations such as ADD, SUB, MUL, DIV, AND, OR and XOR.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simulates processor execution through Instruction Memory, Instruction Decoder, Control Unit, Register File, ALU, Flags and Result Register.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Registers and operand values are automatically assigned by the system, while the user selects the required operation for execution.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processor performance by comparing execution time and operation results through graphical representation.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71185F-9E35-F679-E428-CFC6B19F64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459" y="148468"/>
            <a:ext cx="10979952" cy="95558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28315036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0C710-C705-DCA1-0D4B-BFC745A43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014" y="1705226"/>
            <a:ext cx="2986829" cy="597672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2E0CA4-6A4C-42BA-BC23-0066B3D82126}"/>
              </a:ext>
            </a:extLst>
          </p:cNvPr>
          <p:cNvSpPr txBox="1"/>
          <p:nvPr/>
        </p:nvSpPr>
        <p:spPr>
          <a:xfrm>
            <a:off x="389014" y="2328862"/>
            <a:ext cx="8543970" cy="3782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implement an 8-bit Arithmetic Logic Unit (ALU)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capable of performing arithmetic and logical operations.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simulate processor instruction execution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Instruction Memory, Instruction Decoder, Control Unit, Register File, ALU, Flags and Result Register.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automatically assign registers and operand values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during processor simulation while allowing the user to select the required ALU operation.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and monitor processor results and flags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after each executed operation.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processor performance graphically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comparing execution time and operation results.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7C2C81-1365-FF25-4C51-EAEFD0BDCC84}"/>
              </a:ext>
            </a:extLst>
          </p:cNvPr>
          <p:cNvSpPr txBox="1"/>
          <p:nvPr/>
        </p:nvSpPr>
        <p:spPr>
          <a:xfrm>
            <a:off x="2397760" y="3828534"/>
            <a:ext cx="7193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979EC86-837C-BF6F-E19B-267295B3A5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7284" y="2717959"/>
            <a:ext cx="2943730" cy="12952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F7F416-DCD5-DF7A-D495-44B323AD239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679" y="99457"/>
            <a:ext cx="9686283" cy="12952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19307286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057DC-E833-C80E-6ED2-5F92DB8F2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3B57B-15E5-42FF-AFF0-60E54D39D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035" y="1805619"/>
            <a:ext cx="4862956" cy="526444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BB4ACD-A022-43E3-3E20-43BAF0434EE6}"/>
              </a:ext>
            </a:extLst>
          </p:cNvPr>
          <p:cNvSpPr txBox="1"/>
          <p:nvPr/>
        </p:nvSpPr>
        <p:spPr>
          <a:xfrm>
            <a:off x="580035" y="2435653"/>
            <a:ext cx="10332475" cy="419755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processor and ALU operations theoretically can be difficult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without an interactive simulation environment.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/>
                <a:cs typeface="Times New Roman"/>
              </a:rPr>
              <a:t>Manual assignment of registers and operand values</a:t>
            </a:r>
            <a:r>
              <a:rPr lang="en-IN" dirty="0">
                <a:latin typeface="Times New Roman"/>
                <a:cs typeface="Times New Roman"/>
              </a:rPr>
              <a:t> makes processor execution simulation less automatic and harder to demonstrate.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interaction between the Control Unit, registers, ALU and flags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needs to be clearly demonstrated during instruction execution.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Comparing different ALU operations based on execution performance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difficult without collecting and visualizing execution data.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a web-based 8-bit RISC processor simulation is required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demonstrate ALU operations, automatic processor execution and graphical performance analysis in a simple interactive environment.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05F22F-1F44-0EC7-3B71-596EE76B898F}"/>
              </a:ext>
            </a:extLst>
          </p:cNvPr>
          <p:cNvSpPr txBox="1"/>
          <p:nvPr/>
        </p:nvSpPr>
        <p:spPr>
          <a:xfrm>
            <a:off x="2397760" y="3828534"/>
            <a:ext cx="7193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C59AC3-18CA-6CAB-8FDB-088B85802A2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035" y="224788"/>
            <a:ext cx="10573460" cy="118904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13509024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A13302-CE4E-8226-E70D-B3FE8351300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745" y="60716"/>
            <a:ext cx="10114509" cy="119050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4BEBE9-79D4-F0D9-03F4-D8C52750D600}"/>
              </a:ext>
            </a:extLst>
          </p:cNvPr>
          <p:cNvSpPr txBox="1"/>
          <p:nvPr/>
        </p:nvSpPr>
        <p:spPr>
          <a:xfrm>
            <a:off x="366957" y="1440572"/>
            <a:ext cx="10852220" cy="58663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 USED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IN" b="1" dirty="0">
                <a:latin typeface="Times New Roman"/>
                <a:ea typeface="+mn-lt"/>
                <a:cs typeface="Times New Roman"/>
              </a:rPr>
              <a:t>Python</a:t>
            </a:r>
            <a:r>
              <a:rPr lang="en-IN" dirty="0">
                <a:latin typeface="Times New Roman"/>
                <a:ea typeface="+mn-lt"/>
                <a:cs typeface="Times New Roman"/>
              </a:rPr>
              <a:t> – Implements the core 8-bit RISC CPU architecture, ALU operations, register memory, and execution</a:t>
            </a:r>
            <a:endParaRPr lang="en-IN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/>
                <a:ea typeface="+mn-lt"/>
                <a:cs typeface="Times New Roman"/>
              </a:rPr>
              <a:t>timing. </a:t>
            </a:r>
            <a:endParaRPr lang="en-IN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IN" b="1" dirty="0">
                <a:latin typeface="Times New Roman"/>
                <a:ea typeface="+mn-lt"/>
                <a:cs typeface="Times New Roman"/>
              </a:rPr>
              <a:t>Flask</a:t>
            </a:r>
            <a:r>
              <a:rPr lang="en-IN" dirty="0">
                <a:latin typeface="Times New Roman"/>
                <a:ea typeface="+mn-lt"/>
                <a:cs typeface="Times New Roman"/>
              </a:rPr>
              <a:t> – Provides backend routing, template rendering, and RESTful APIs for simulation data. </a:t>
            </a:r>
            <a:endParaRPr lang="en-IN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IN" b="1" dirty="0">
                <a:latin typeface="Times New Roman"/>
                <a:ea typeface="+mn-lt"/>
                <a:cs typeface="Times New Roman"/>
              </a:rPr>
              <a:t>HTML5 &amp; CSS3</a:t>
            </a:r>
            <a:r>
              <a:rPr lang="en-IN" dirty="0">
                <a:latin typeface="Times New Roman"/>
                <a:ea typeface="+mn-lt"/>
                <a:cs typeface="Times New Roman"/>
              </a:rPr>
              <a:t> – Builds a responsive, modern dark-themed engineering interface with processor </a:t>
            </a:r>
            <a:r>
              <a:rPr lang="en-IN" dirty="0" err="1">
                <a:latin typeface="Times New Roman"/>
                <a:ea typeface="+mn-lt"/>
                <a:cs typeface="Times New Roman"/>
              </a:rPr>
              <a:t>datapath</a:t>
            </a:r>
            <a:endParaRPr lang="en-IN" dirty="0" err="1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/>
                <a:ea typeface="+mn-lt"/>
                <a:cs typeface="Times New Roman"/>
              </a:rPr>
              <a:t>animations. </a:t>
            </a:r>
            <a:endParaRPr lang="en-IN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IN" b="1" dirty="0">
                <a:latin typeface="Times New Roman"/>
                <a:ea typeface="+mn-lt"/>
                <a:cs typeface="Times New Roman"/>
              </a:rPr>
              <a:t>Vanilla JavaScript </a:t>
            </a:r>
            <a:r>
              <a:rPr lang="en-IN" dirty="0">
                <a:latin typeface="Times New Roman"/>
                <a:ea typeface="+mn-lt"/>
                <a:cs typeface="Times New Roman"/>
              </a:rPr>
              <a:t>– Controls real-time </a:t>
            </a:r>
            <a:r>
              <a:rPr lang="en-IN" dirty="0" err="1">
                <a:latin typeface="Times New Roman"/>
                <a:ea typeface="+mn-lt"/>
                <a:cs typeface="Times New Roman"/>
              </a:rPr>
              <a:t>datapath</a:t>
            </a:r>
            <a:r>
              <a:rPr lang="en-IN" dirty="0">
                <a:latin typeface="Times New Roman"/>
                <a:ea typeface="+mn-lt"/>
                <a:cs typeface="Times New Roman"/>
              </a:rPr>
              <a:t> animations, 7-stage processor sequencing, and live flag updates. </a:t>
            </a:r>
            <a:endParaRPr lang="en-IN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IN" b="1" dirty="0">
                <a:latin typeface="Times New Roman"/>
                <a:ea typeface="+mn-lt"/>
                <a:cs typeface="Times New Roman"/>
              </a:rPr>
              <a:t>Chart.js </a:t>
            </a:r>
            <a:r>
              <a:rPr lang="en-IN" dirty="0">
                <a:latin typeface="Times New Roman"/>
                <a:ea typeface="+mn-lt"/>
                <a:cs typeface="Times New Roman"/>
              </a:rPr>
              <a:t>– Creates interactive graphical comparisons of execution time, computational complexity, and relative</a:t>
            </a:r>
            <a:endParaRPr lang="en-IN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/>
                <a:ea typeface="+mn-lt"/>
                <a:cs typeface="Times New Roman"/>
              </a:rPr>
              <a:t>efficiency. </a:t>
            </a:r>
            <a:endParaRPr lang="en-IN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IN" b="1" dirty="0">
                <a:latin typeface="Times New Roman"/>
                <a:ea typeface="+mn-lt"/>
                <a:cs typeface="Times New Roman"/>
              </a:rPr>
              <a:t>VS Code</a:t>
            </a:r>
            <a:r>
              <a:rPr lang="en-IN" dirty="0">
                <a:latin typeface="Times New Roman"/>
                <a:ea typeface="+mn-lt"/>
                <a:cs typeface="Times New Roman"/>
              </a:rPr>
              <a:t> – Used as the development environment for coding, testing, debugging, and project management. </a:t>
            </a:r>
            <a:endParaRPr lang="en-IN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en-IN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en-IN">
              <a:ea typeface="Calibri" panose="020F0502020204030204"/>
              <a:cs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en-IN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01055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851196-D17F-DEB8-BB7D-56E15BB951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8124" y="1396721"/>
            <a:ext cx="9069056" cy="48442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6812DC-8782-D723-62B0-4505A8D8DC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6817" y="81956"/>
            <a:ext cx="9515613" cy="107008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65384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676B3F2-73E4-A722-6715-EE121C9C8AB0}"/>
              </a:ext>
            </a:extLst>
          </p:cNvPr>
          <p:cNvSpPr txBox="1"/>
          <p:nvPr/>
        </p:nvSpPr>
        <p:spPr>
          <a:xfrm>
            <a:off x="697627" y="1912811"/>
            <a:ext cx="10114509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800" b="1" dirty="0">
                <a:latin typeface="Times New Roman"/>
                <a:ea typeface="Times New Roman" panose="02020603050405020304" pitchFamily="18" charset="0"/>
                <a:cs typeface="Times New Roman"/>
              </a:rPr>
              <a:t>MODULE 1 :  </a:t>
            </a:r>
            <a:r>
              <a:rPr lang="en-IN" sz="2800" b="1" dirty="0">
                <a:latin typeface="Times New Roman"/>
                <a:ea typeface="Times New Roman" panose="02020603050405020304" pitchFamily="18" charset="0"/>
                <a:cs typeface="Times New Roman"/>
              </a:rPr>
              <a:t>ALU FUNCTIONALITY </a:t>
            </a:r>
            <a:endParaRPr lang="en-IN" sz="2800" b="1" dirty="0">
              <a:latin typeface="Times New Roman"/>
              <a:cs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EAD0BF-44D0-CD36-EEBB-44E07107592E}"/>
              </a:ext>
            </a:extLst>
          </p:cNvPr>
          <p:cNvSpPr txBox="1"/>
          <p:nvPr/>
        </p:nvSpPr>
        <p:spPr>
          <a:xfrm>
            <a:off x="697627" y="2805839"/>
            <a:ext cx="7994444" cy="253556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+mn-lt"/>
                <a:cs typeface="Times New Roman"/>
              </a:rPr>
              <a:t>Explains the </a:t>
            </a:r>
            <a:r>
              <a:rPr lang="en-IN" b="1" dirty="0">
                <a:latin typeface="Times New Roman"/>
                <a:ea typeface="+mn-lt"/>
                <a:cs typeface="Times New Roman"/>
              </a:rPr>
              <a:t>functional role of the 8-bit ALU</a:t>
            </a:r>
            <a:r>
              <a:rPr lang="en-IN" dirty="0">
                <a:latin typeface="Times New Roman"/>
                <a:ea typeface="+mn-lt"/>
                <a:cs typeface="Times New Roman"/>
              </a:rPr>
              <a:t> in the processor. </a:t>
            </a:r>
            <a:endParaRPr lang="en-US" dirty="0">
              <a:latin typeface="Times New Roman"/>
              <a:ea typeface="+mn-lt"/>
              <a:cs typeface="Times New Roman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+mn-lt"/>
                <a:cs typeface="Times New Roman"/>
              </a:rPr>
              <a:t>Demonstrates </a:t>
            </a:r>
            <a:r>
              <a:rPr lang="en-IN" b="1" dirty="0">
                <a:latin typeface="Times New Roman"/>
                <a:ea typeface="+mn-lt"/>
                <a:cs typeface="Times New Roman"/>
              </a:rPr>
              <a:t>arithmetic and logical operations</a:t>
            </a:r>
            <a:r>
              <a:rPr lang="en-IN" dirty="0">
                <a:latin typeface="Times New Roman"/>
                <a:ea typeface="+mn-lt"/>
                <a:cs typeface="Times New Roman"/>
              </a:rPr>
              <a:t> performed by the ALU.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+mn-lt"/>
                <a:cs typeface="Times New Roman"/>
              </a:rPr>
              <a:t>Processes </a:t>
            </a:r>
            <a:r>
              <a:rPr lang="en-IN" b="1" dirty="0">
                <a:latin typeface="Times New Roman"/>
                <a:ea typeface="+mn-lt"/>
                <a:cs typeface="Times New Roman"/>
              </a:rPr>
              <a:t>two input operands</a:t>
            </a:r>
            <a:r>
              <a:rPr lang="en-IN" dirty="0">
                <a:latin typeface="Times New Roman"/>
                <a:ea typeface="+mn-lt"/>
                <a:cs typeface="Times New Roman"/>
              </a:rPr>
              <a:t> and generates the corresponding output. </a:t>
            </a:r>
            <a:endParaRPr lang="en-IN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+mn-lt"/>
                <a:cs typeface="Times New Roman"/>
              </a:rPr>
              <a:t>Shows how the ALU handles different </a:t>
            </a:r>
            <a:r>
              <a:rPr lang="en-IN" b="1" dirty="0">
                <a:latin typeface="Times New Roman"/>
                <a:ea typeface="+mn-lt"/>
                <a:cs typeface="Times New Roman"/>
              </a:rPr>
              <a:t>operation types and results</a:t>
            </a:r>
            <a:r>
              <a:rPr lang="en-IN" dirty="0">
                <a:latin typeface="Times New Roman"/>
                <a:ea typeface="+mn-lt"/>
                <a:cs typeface="Times New Roman"/>
              </a:rPr>
              <a:t>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/>
                <a:ea typeface="+mn-lt"/>
                <a:cs typeface="Times New Roman"/>
              </a:rPr>
              <a:t>Demonstrates the generation of </a:t>
            </a:r>
            <a:r>
              <a:rPr lang="en-IN" b="1" dirty="0">
                <a:latin typeface="Times New Roman"/>
                <a:ea typeface="+mn-lt"/>
                <a:cs typeface="Times New Roman"/>
              </a:rPr>
              <a:t>Zero, Carry, Negative, and Overflow flags</a:t>
            </a:r>
            <a:r>
              <a:rPr lang="en-IN" dirty="0">
                <a:latin typeface="Times New Roman"/>
                <a:ea typeface="+mn-lt"/>
                <a:cs typeface="Times New Roman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/>
              <a:cs typeface="Times New Roman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6B82671-221C-8254-63E1-3435A1D2C6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745" y="60716"/>
            <a:ext cx="10114509" cy="11905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88A64-31FC-0005-1137-BC0F507FD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DB12B9-196D-F202-A680-2070E42EB3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213" y="110957"/>
            <a:ext cx="10114509" cy="1190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99CA66C-0D11-B4E9-C1A9-98042B2CE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0099" y="1609966"/>
            <a:ext cx="8540308" cy="4834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595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676B3F2-73E4-A722-6715-EE121C9C8AB0}"/>
              </a:ext>
            </a:extLst>
          </p:cNvPr>
          <p:cNvSpPr txBox="1"/>
          <p:nvPr/>
        </p:nvSpPr>
        <p:spPr>
          <a:xfrm>
            <a:off x="621236" y="1633496"/>
            <a:ext cx="101145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MODULE 2 : </a:t>
            </a:r>
            <a:r>
              <a:rPr lang="en-IN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ALU SIMULATION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EAD0BF-44D0-CD36-EEBB-44E07107592E}"/>
              </a:ext>
            </a:extLst>
          </p:cNvPr>
          <p:cNvSpPr txBox="1"/>
          <p:nvPr/>
        </p:nvSpPr>
        <p:spPr>
          <a:xfrm>
            <a:off x="621236" y="2608587"/>
            <a:ext cx="9232624" cy="3782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Simulates the execution of instructions in an 8-bit RISC processor.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selects the required ALU operation, while registers and operand values are automatically assigned by the system.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Control Unit manages the execution flow from instruction fetching and decoding to register reading and ALU execution.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ALU performs the selected arithmetic or logical operation and generates the result with processor flags.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result, execution details and execution time are recorded for further analysis in Module 3.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684D31A-EF22-8FD7-CEE7-C37C5A5F7B2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747" y="88784"/>
            <a:ext cx="10528870" cy="11543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0A124EC-C040-74F0-8244-67CD81C8FB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213" y="110957"/>
            <a:ext cx="10114509" cy="1190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1701500-BB6B-E833-B1B2-BD8644B9E3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2759" y="1718631"/>
            <a:ext cx="9774621" cy="5032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3733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676B3F2-73E4-A722-6715-EE121C9C8AB0}"/>
              </a:ext>
            </a:extLst>
          </p:cNvPr>
          <p:cNvSpPr txBox="1"/>
          <p:nvPr/>
        </p:nvSpPr>
        <p:spPr>
          <a:xfrm>
            <a:off x="528887" y="1583769"/>
            <a:ext cx="101145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MODULE 3 :GRAPHICAL REPRESENTATION 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EAD0BF-44D0-CD36-EEBB-44E07107592E}"/>
              </a:ext>
            </a:extLst>
          </p:cNvPr>
          <p:cNvSpPr txBox="1"/>
          <p:nvPr/>
        </p:nvSpPr>
        <p:spPr>
          <a:xfrm>
            <a:off x="528887" y="2327134"/>
            <a:ext cx="9475794" cy="3788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the execution data generated by the processor simulation for each completed ALU operation.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the execution time of different operations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graphical representation.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the calculated results of two selected ALU operations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along with their operands and calculations.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operation details such as registers, operand values, results and execution time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performance analysis.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visual comparison of processor operations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helping to understand differences in execution performance and ALU results.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5C24968-133A-3B60-69E6-FD06A948540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239" y="275743"/>
            <a:ext cx="10497645" cy="11494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0EB0E-10FE-28C8-D7C9-9AEEDEBB7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428B07-5B6F-F43B-D39E-3A440F77C6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213" y="110957"/>
            <a:ext cx="10114509" cy="1190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F2A4FE-FACE-DC7A-072C-4B40CCCB31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276" y="1717296"/>
            <a:ext cx="9573173" cy="463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8190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179EB-B3D9-41DA-6663-ECDC61234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8BA4A14-EB4E-E76E-7CA4-F987C274729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213" y="110957"/>
            <a:ext cx="10114509" cy="119050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1F4D63D-D960-55F6-3E69-3CCD98DEBC3C}"/>
              </a:ext>
            </a:extLst>
          </p:cNvPr>
          <p:cNvSpPr txBox="1"/>
          <p:nvPr/>
        </p:nvSpPr>
        <p:spPr>
          <a:xfrm>
            <a:off x="928212" y="1637881"/>
            <a:ext cx="9712991" cy="4613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Simulation-based: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project simulates processor and ALU operations rather than using a physical processor.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instruction set: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Only the implemented ALU operations such as ADD, SUB, MUL, DIV, AND, OR and XOR are supported.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8-bit processing: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simulation is designed for an 8-bit processor, so it does not represent larger processor architectures.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Simplified execution time: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measured execution time represents the software simulation and may not reflect the actual hardware execution time.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processor features: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Advanced features such as pipelining, cache memory, interrupts and multicore processing are not included.</a:t>
            </a:r>
          </a:p>
        </p:txBody>
      </p:sp>
    </p:spTree>
    <p:extLst>
      <p:ext uri="{BB962C8B-B14F-4D97-AF65-F5344CB8AC3E}">
        <p14:creationId xmlns:p14="http://schemas.microsoft.com/office/powerpoint/2010/main" val="35434317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916DD-B670-F0C8-1892-EEE5D6198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B79C043-A597-AB65-5FF7-BA5F81FFBFD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213" y="110957"/>
            <a:ext cx="10114509" cy="119050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518E7C3-2656-BAF3-1B9B-518E32FC0D92}"/>
              </a:ext>
            </a:extLst>
          </p:cNvPr>
          <p:cNvSpPr txBox="1"/>
          <p:nvPr/>
        </p:nvSpPr>
        <p:spPr>
          <a:xfrm>
            <a:off x="928212" y="1637881"/>
            <a:ext cx="9712991" cy="392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the instruction set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support additional arithmetic, logical, data-transfer and control-flow instructions.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processor size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8-bit to 16-bit, 32-bit or 64-bit architectures.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advanced processor features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pipelining, cache memory and interrupt handling.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performance analysis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adding more detailed metrics and real-time graphical comparisons.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hardware implementation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simulated ALU and processor for testing on FPGA or other digital hardware.</a:t>
            </a:r>
          </a:p>
        </p:txBody>
      </p:sp>
    </p:spTree>
    <p:extLst>
      <p:ext uri="{BB962C8B-B14F-4D97-AF65-F5344CB8AC3E}">
        <p14:creationId xmlns:p14="http://schemas.microsoft.com/office/powerpoint/2010/main" val="218655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2648536-E03B-C380-7043-8C0EC88381C5}"/>
              </a:ext>
            </a:extLst>
          </p:cNvPr>
          <p:cNvSpPr txBox="1">
            <a:spLocks/>
          </p:cNvSpPr>
          <p:nvPr/>
        </p:nvSpPr>
        <p:spPr>
          <a:xfrm>
            <a:off x="-640434" y="1464464"/>
            <a:ext cx="10515600" cy="505267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368425">
              <a:lnSpc>
                <a:spcPct val="100000"/>
              </a:lnSpc>
              <a:spcBef>
                <a:spcPts val="100"/>
              </a:spcBef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8194" name="Picture 2" descr="What is 1 Unit of Electricity? Understanding Power Consumption">
            <a:extLst>
              <a:ext uri="{FF2B5EF4-FFF2-40B4-BE49-F238E27FC236}">
                <a16:creationId xmlns:a16="http://schemas.microsoft.com/office/drawing/2014/main" id="{EAC6026F-DF46-E043-7F43-88AE5A8BDF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310" t="14346" r="5064" b="8561"/>
          <a:stretch>
            <a:fillRect/>
          </a:stretch>
        </p:blipFill>
        <p:spPr bwMode="auto">
          <a:xfrm>
            <a:off x="9203983" y="2194487"/>
            <a:ext cx="2605457" cy="2650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D7EED9D9-6A2E-4235-AC0E-4E867BF49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129" y="2060894"/>
            <a:ext cx="7926475" cy="4197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developed a web-based 8-bit RISC-style processor simulation with an integrated ALU.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arithmetic and logical ALU operations with automatic register and operand assignment.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the complete processor execution flow from instruction selection to result and flag generation.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Provided graphical analysis of execution time and operation results for performance comparison.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provides an interactive and practical way to understand ALU functionality and processor instruction execution.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FD2D0D-01CE-D00A-B0CC-41EBD65EE03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609" y="148202"/>
            <a:ext cx="10223252" cy="12250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609076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DEFC7-A896-DE46-70E3-5FA5B9A14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121BA36-CA94-F3EC-65E7-703BBF65E8F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004" y="110957"/>
            <a:ext cx="10114509" cy="119050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AF0091A-2220-8EAA-83B3-B62358C31CE9}"/>
              </a:ext>
            </a:extLst>
          </p:cNvPr>
          <p:cNvSpPr txBox="1"/>
          <p:nvPr/>
        </p:nvSpPr>
        <p:spPr>
          <a:xfrm>
            <a:off x="937007" y="1713445"/>
            <a:ext cx="9262069" cy="4012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David A. Patterson and John L. Hennessy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Organization and Design: The Hardware/Software Interface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Morgan Kaufmann.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William Stallings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Organization and Architecture: Designing for Performance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Pearson.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Morris Mano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System Architecture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Pearson.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Documentation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Python programming language and standard library.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 Documentation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Flask web application framework.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Chart.js Documentation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JavaScript library used for graphical data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25942765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F6AF76-E4EB-D820-33D0-1BB0680889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5116" y="938072"/>
            <a:ext cx="6601768" cy="4981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143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2856</TotalTime>
  <Words>1039</Words>
  <Application>Microsoft Office PowerPoint</Application>
  <PresentationFormat>Widescreen</PresentationFormat>
  <Paragraphs>82</Paragraphs>
  <Slides>17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INTRODUCTION</vt:lpstr>
      <vt:lpstr>OBJECTIVE</vt:lpstr>
      <vt:lpstr>PROBLEM STATEMENT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Samuel V</dc:creator>
  <cp:lastModifiedBy>Hemanth R</cp:lastModifiedBy>
  <cp:revision>89</cp:revision>
  <dcterms:created xsi:type="dcterms:W3CDTF">2025-07-08T13:42:28Z</dcterms:created>
  <dcterms:modified xsi:type="dcterms:W3CDTF">2026-09-04T14:56:14Z</dcterms:modified>
</cp:coreProperties>
</file>